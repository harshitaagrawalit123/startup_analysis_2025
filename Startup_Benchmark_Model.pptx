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274320"/>
            <a:ext cx="2560320" cy="2560320"/>
          </a:xfrm>
          <a:prstGeom prst="ellipse">
            <a:avLst/>
          </a:prstGeom>
          <a:solidFill>
            <a:srgbClr val="0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822960"/>
            <a:ext cx="1463040" cy="1463040"/>
          </a:xfrm>
          <a:prstGeom prst="ellipse">
            <a:avLst/>
          </a:prstGeom>
          <a:solidFill>
            <a:srgbClr val="00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200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3B4"/>
                </a:solidFill>
                <a:latin typeface="Calibri"/>
              </a:rPr>
              <a:t>2025 Indian Startup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Startup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C3B4"/>
                </a:solidFill>
                <a:latin typeface="Calibri"/>
              </a:rPr>
              <a:t>Benchmark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029200" cy="3657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Predicting where a startup's team should be —
based on 1,751 Indian startups across sector, funding &amp; geography.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Poisson Regression  ·  8 Features  ·  MAE ±3 employees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1,751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  <a:latin typeface="Calibri"/>
              </a:rPr>
              <a:t>Indian Startups Analysed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2834640"/>
            <a:ext cx="2560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787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49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  <a:latin typeface="Calibri"/>
              </a:rPr>
              <a:t>Quality Training Records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4297680"/>
            <a:ext cx="25603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4480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A500"/>
                </a:solidFill>
                <a:latin typeface="Calibri"/>
              </a:rPr>
              <a:t>±3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5212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EEE"/>
                </a:solidFill>
                <a:latin typeface="Calibri"/>
              </a:rPr>
              <a:t>Employees Error Margin (MAE)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THE PROBLEM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There was no data-backed way to benchmark Indian startup team sizes.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91440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011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No standard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Founders had no reference for whether their team size was normal for their sector and stage.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9184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91440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383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Geography ignored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033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Existing research ignored the Tier-1 vs Tier-2 vs Tier-3 city difference in Indian startup hiring.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530352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663440"/>
            <a:ext cx="91440" cy="1143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7548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Funding ≠ headcount 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0749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Investors had no quick way to estimate expected headcount from a startup's funding and sector profile.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83080"/>
            <a:ext cx="5486400" cy="4480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Our answer: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468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"A Poisson regression model trained on 1,751 Indian startups — predicting expected team size from sector, location, funding &amp; founder profile."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434840"/>
            <a:ext cx="4846320" cy="36576"/>
          </a:xfrm>
          <a:prstGeom prst="rect">
            <a:avLst/>
          </a:prstGeom>
          <a:solidFill>
            <a:srgbClr val="00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A500"/>
                </a:solidFill>
                <a:latin typeface="Calibri"/>
              </a:rPr>
              <a:t>Built for India. Built for 2025.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74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Covering 13+ sectors · All major states · Tier-1 to Tier-3 cities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293B"/>
                </a:solidFill>
                <a:latin typeface="Calibri"/>
              </a:rPr>
              <a:t>1,751 Indian startups. 21 data points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41148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6060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26060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8090"/>
                </a:solidFill>
                <a:latin typeface="Calibri"/>
              </a:rPr>
              <a:t>1,751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87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Total startups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737360"/>
            <a:ext cx="26060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737360"/>
            <a:ext cx="26060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8090"/>
                </a:solidFill>
                <a:latin typeface="Calibri"/>
              </a:rPr>
              <a:t>787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487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Quality training 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26060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1737360"/>
            <a:ext cx="26060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874519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8090"/>
                </a:solidFill>
                <a:latin typeface="Calibri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87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Features per startup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1737360"/>
            <a:ext cx="26060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1737360"/>
            <a:ext cx="2606040" cy="91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874519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28090"/>
                </a:solidFill>
                <a:latin typeface="Calibri"/>
              </a:rPr>
              <a:t>13+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4871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Sectors covered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Key features used by the model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66160"/>
            <a:ext cx="36576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3657600" cy="34747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210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977639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State of headquarters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9884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City population (millions)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020055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Locality Tier (Metro/Tier-2/Tier-3)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4126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State GDP 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3566160"/>
            <a:ext cx="36576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3566160"/>
            <a:ext cx="36576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36210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Business profile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977639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Sector (Enterprise IT, FinTech, EdTech...)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49884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Company Type (Funded / Bootstrapped)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020055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Funding raised (₹ Crore, capped ₹25 Cr)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554126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Founder Count (1–6)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566160"/>
            <a:ext cx="365760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566160"/>
            <a:ext cx="3657600" cy="34747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362102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Target variable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3977639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Team Size (employees)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49884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Median: 4 · Range: 1–321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020055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Missing values filled with median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554126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· Quality filter: founder data present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WHAT THE MODEL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One question. One answer.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4572000" cy="36576"/>
          </a:xfrm>
          <a:prstGeom prst="rect">
            <a:avLst/>
          </a:prstGeom>
          <a:solidFill>
            <a:srgbClr val="00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E2E8F0"/>
                </a:solidFill>
                <a:latin typeface="Calibri"/>
              </a:rPr>
              <a:t>"Given a startup's sector, location, funding and founders —
what is the expected team size as it matures?"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834640"/>
            <a:ext cx="3520440" cy="1554480"/>
          </a:xfrm>
          <a:prstGeom prst="rect">
            <a:avLst/>
          </a:prstGeom>
          <a:solidFill>
            <a:srgbClr val="1C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9260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Input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649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Sector · State · Locality
Funding · Founders · GDP 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3B4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834640"/>
            <a:ext cx="3520440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9260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Poisson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3649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8 features · Label encoding
Standard scaling · α=0.1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38328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3B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834640"/>
            <a:ext cx="3520440" cy="1554480"/>
          </a:xfrm>
          <a:prstGeom prst="rect">
            <a:avLst/>
          </a:prstGeom>
          <a:solidFill>
            <a:srgbClr val="1C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9260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Predicted Headcount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364992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Expected team size
in 2–3 years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17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Example predictions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3657600" cy="1508760"/>
          </a:xfrm>
          <a:prstGeom prst="rect">
            <a:avLst/>
          </a:prstGeom>
          <a:solidFill>
            <a:srgbClr val="14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51206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FinTech · Bengaluru · Bootstrapped · 1 founder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" y="5614416"/>
            <a:ext cx="329184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68756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  <a:latin typeface="Calibri"/>
              </a:rPr>
              <a:t>~4 employees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5029200"/>
            <a:ext cx="3657600" cy="1508760"/>
          </a:xfrm>
          <a:prstGeom prst="rect">
            <a:avLst/>
          </a:prstGeom>
          <a:solidFill>
            <a:srgbClr val="14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51206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Enterprise IT · Delhi · Funded ₹5 Cr · 3 founders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61688" y="5614416"/>
            <a:ext cx="329184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568756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  <a:latin typeface="Calibri"/>
              </a:rPr>
              <a:t>~12 employees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029200"/>
            <a:ext cx="3657600" cy="1508760"/>
          </a:xfrm>
          <a:prstGeom prst="rect">
            <a:avLst/>
          </a:prstGeom>
          <a:solidFill>
            <a:srgbClr val="14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512064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EdTech · Jaipur · Tier-2 · Bootstrapped · 2 founders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47888" y="5614416"/>
            <a:ext cx="329184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7888" y="5687568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A500"/>
                </a:solidFill>
                <a:latin typeface="Calibri"/>
              </a:rPr>
              <a:t>~6 employees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THE MODEL CHOICE — WHY POISSON REGRESSION?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Team size is a count. Poisson was built for 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45720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03520" cy="448056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03520" cy="384048"/>
          </a:xfrm>
          <a:prstGeom prst="rect">
            <a:avLst/>
          </a:prstGeom>
          <a:solidFill>
            <a:srgbClr val="E24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922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Linear Regression  —  Not suitable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2D2D"/>
                </a:solidFill>
                <a:latin typeface="Calibri"/>
              </a:rPr>
              <a:t>✗  Can predict negative team sizes (-3 employees)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2D2D"/>
                </a:solidFill>
                <a:latin typeface="Calibri"/>
              </a:rPr>
              <a:t>✗  Assumes constant variance at all scales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57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2D2D"/>
                </a:solidFill>
                <a:latin typeface="Calibri"/>
              </a:rPr>
              <a:t>✗  Not designed for count/integer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32D2D"/>
                </a:solidFill>
                <a:latin typeface="Calibri"/>
              </a:rPr>
              <a:t>✗  Skewed data breaks its assumptions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737360"/>
            <a:ext cx="5486400" cy="4480560"/>
          </a:xfrm>
          <a:prstGeom prst="rect">
            <a:avLst/>
          </a:prstGeom>
          <a:solidFill>
            <a:srgbClr val="EA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4864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9222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Poisson Regression  —  Perfect fit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6E56"/>
                </a:solidFill>
                <a:latin typeface="Calibri"/>
              </a:rPr>
              <a:t>✓  Always predicts non-negative integers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94436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6E56"/>
                </a:solidFill>
                <a:latin typeface="Calibri"/>
              </a:rPr>
              <a:t>✓  Variance scales naturally with count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602736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6E56"/>
                </a:solidFill>
                <a:latin typeface="Calibri"/>
              </a:rPr>
              <a:t>✓  Designed specifically for count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61104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6E56"/>
                </a:solidFill>
                <a:latin typeface="Calibri"/>
              </a:rPr>
              <a:t>✓  Handles skewed, rare-event distributions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1947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6E56"/>
                </a:solidFill>
                <a:latin typeface="Calibri"/>
              </a:rPr>
              <a:t>✓  Log-linear: each feature multiplies expected 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Model: PoissonRegressor(alpha=0.1, max_iter=300)  ·  80/20 train-test split  ·  MAE ≈ ±3 employees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KEY INSIGHTS FROM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What the 1,751 startups tell 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577840" cy="2148840"/>
          </a:xfrm>
          <a:prstGeom prst="rect">
            <a:avLst/>
          </a:prstGeom>
          <a:solidFill>
            <a:srgbClr val="14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02920" cy="21488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090"/>
                </a:solidFill>
                <a:latin typeface="Calibri"/>
              </a:rPr>
              <a:t>Funding is the strongest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Startups that raised even modest funding (₹5–10 Cr) show 2–3× higher expected headcount than bootstrapped peers in the same sector.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577840" cy="2148840"/>
          </a:xfrm>
          <a:prstGeom prst="rect">
            <a:avLst/>
          </a:prstGeom>
          <a:solidFill>
            <a:srgbClr val="14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02920" cy="21488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331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Sector shapes team size more than 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24028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Enterprise Software &amp; IT startups (734 in dataset) consistently build larger teams than EdTech or E-commerce at the same funding level.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31920"/>
            <a:ext cx="5577840" cy="2148840"/>
          </a:xfrm>
          <a:prstGeom prst="rect">
            <a:avLst/>
          </a:prstGeom>
          <a:solidFill>
            <a:srgbClr val="14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931920"/>
            <a:ext cx="502920" cy="2148840"/>
          </a:xfrm>
          <a:prstGeom prst="rect">
            <a:avLst/>
          </a:prstGeom>
          <a:solidFill>
            <a:srgbClr val="9FE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114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FE1CB"/>
                </a:solidFill>
                <a:latin typeface="Calibri"/>
              </a:rPr>
              <a:t>Tier-1 metros lead, but Tier-2 is catching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7200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Tier-1 metro startups average 2× the headcount of Tier-3 startups — but Tier-2 Emerging cities show faster growth trajectories.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931920"/>
            <a:ext cx="5577840" cy="2148840"/>
          </a:xfrm>
          <a:prstGeom prst="rect">
            <a:avLst/>
          </a:prstGeom>
          <a:solidFill>
            <a:srgbClr val="142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931920"/>
            <a:ext cx="502920" cy="2148840"/>
          </a:xfrm>
          <a:prstGeom prst="rect">
            <a:avLst/>
          </a:prstGeom>
          <a:solidFill>
            <a:srgbClr val="FAC7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114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AC775"/>
                </a:solidFill>
                <a:latin typeface="Calibri"/>
              </a:rPr>
              <a:t>More founders → larger teams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572000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Startups with 2–3 co-founders predict meaningfully larger teams than solo founders — co-founder count is a top-3 feature by impact.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WHO BENEFITS FROM THIS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One model. Five different users.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3657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6576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019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VC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331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Pre-meeting: validate if a startup's claimed team size is realistic for their sector and funding stage.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828800"/>
            <a:ext cx="3657600" cy="3840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9019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Startup Founder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331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Self-benchmark: know if you're under-staffed vs similar companies and justify your hiring roadmap to investors.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8288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828800"/>
            <a:ext cx="3657600" cy="384048"/>
          </a:xfrm>
          <a:prstGeom prst="rect">
            <a:avLst/>
          </a:prstGeom>
          <a:solidFill>
            <a:srgbClr val="0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Accelerator / Incubator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Cohort dashboard: flag startups that are significantly behind expected headcount after raising funding.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416052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4160520"/>
            <a:ext cx="3657600" cy="38404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78608" y="42336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Ecosystem Researcher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46634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Policy design: identify which states and sectors build bigger teams, even at the same funding levels.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16052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4160520"/>
            <a:ext cx="3657600" cy="384048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423367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HR / Talent 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4663440"/>
            <a:ext cx="3429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Sales targeting: identify startups whose actual team is below the predicted size — they're about to hire.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7772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HOW TO READ RESULTS FOR 2025-FOUNDED STARTUPS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E293B"/>
                </a:solidFill>
                <a:latin typeface="Calibri"/>
              </a:rPr>
              <a:t>These are growth targets — not current-state verdicts.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50292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430000" cy="1280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Calibri"/>
              </a:rPr>
              <a:t>"This model doesn't tell you where a startup is —
it tells you where a startup like this should be going."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00400"/>
            <a:ext cx="36576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109728" cy="2834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36576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Read predictions as 2–3 year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A 2025 startup with 2 employees is simply new, not lean. The model shows expected team size once it hits its stride.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200400"/>
            <a:ext cx="36576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3200400"/>
            <a:ext cx="109728" cy="2834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51960" y="3200400"/>
            <a:ext cx="36576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329184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Startups above prediction = ahead of curve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9319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If actual &gt; predicted, the startup is scaling faster than comparable companies — a positive signal.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200400"/>
            <a:ext cx="365760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200400"/>
            <a:ext cx="109728" cy="2834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200400"/>
            <a:ext cx="3657600" cy="5486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291840"/>
            <a:ext cx="50292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291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33375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Use for relative comparison, not absolute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931920"/>
            <a:ext cx="3337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The model is most powerful when comparing two startups in the same sector: which is on a stronger trajectory?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457200"/>
            <a:ext cx="2743200" cy="2743200"/>
          </a:xfrm>
          <a:prstGeom prst="ellipse">
            <a:avLst/>
          </a:prstGeom>
          <a:solidFill>
            <a:srgbClr val="02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0" y="1097280"/>
            <a:ext cx="1463040" cy="1463040"/>
          </a:xfrm>
          <a:prstGeom prst="ellipse">
            <a:avLst/>
          </a:prstGeom>
          <a:solidFill>
            <a:srgbClr val="00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B4"/>
                </a:solidFill>
                <a:latin typeface="Calibri"/>
              </a:rPr>
              <a:t>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724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 live benchmark that
grows with the ecosystem.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5029200" cy="36576"/>
          </a:xfrm>
          <a:prstGeom prst="rect">
            <a:avLst/>
          </a:prstGeom>
          <a:solidFill>
            <a:srgbClr val="00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77440"/>
            <a:ext cx="4114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77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Track 2025 cohort through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Re-run predictions annually and validate against real headcount growth.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4114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3375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Add startup age as a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3016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Make the model even more precise by incorporating months since founding.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297680"/>
            <a:ext cx="4114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2976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Expand to 5,000+ startups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59028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Widen the dataset to include more Tier-2 and Tier-3 city startups.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57800"/>
            <a:ext cx="4114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2578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Build a public-facing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55040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Let founders benchmark their team size against the model in real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011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EE"/>
                </a:solidFill>
                <a:latin typeface="Calibri"/>
              </a:rPr>
              <a:t>Built 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4231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Python · sklearn
pandas · Poisson
Regression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931920"/>
            <a:ext cx="2926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40690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EEEE"/>
                </a:solidFill>
                <a:latin typeface="Calibri"/>
              </a:rPr>
              <a:t>Data: 1,751 Indian
Startups · 2025 cohort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5074920"/>
            <a:ext cx="29260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52120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A500"/>
                </a:solidFill>
                <a:latin typeface="Calibri"/>
              </a:rPr>
              <a:t>MAE ±3 employees
Poisson R²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94360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3B4"/>
                </a:solidFill>
                <a:latin typeface="Calibr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